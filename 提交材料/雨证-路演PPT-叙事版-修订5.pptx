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.svg" ContentType="image/svg+xml"/>
  <Override PartName="/ppt/media/image1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 小时窗口内累计降雨达到 50 mm 的概率（%）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667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给外卖骑手的参数化降雨险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772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r>
              <a:rPr lang="zh-CN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02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2" grpId="0"/>
      <p:bldP spid="184" grpId="0"/>
      <p:bldP spid="181" grpId="0"/>
      <p:bldP spid="183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4" grpId="0"/>
      <p:bldP spid="205" grpId="0"/>
      <p:bldP spid="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 sz="20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 sz="20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r>
              <a:rPr lang="en-US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20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ldLvl="0" animBg="1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 bldLvl="0" animBg="1"/>
      <p:bldP spid="236" grpId="0"/>
      <p:bldP spid="237" grpId="0" bldLvl="0" animBg="1"/>
      <p:bldP spid="238" grpId="0"/>
      <p:bldP spid="239" grpId="0" bldLvl="0" animBg="1"/>
      <p:bldP spid="2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三条链上证据，两种相反的结论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PAYOUT PER CLAIM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0.01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ETH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69557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触发到账是分钟级。含判定与赔付的链上总成本约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0.00025 ETH（Sepolia 实测、1 Gwei）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，只占赔付额的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2.5%（968 未摊薄 ≈0.0043 BOT，靠批量摊薄）—— 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传统保险的钱花在「查」，我们的钱花在「给」。</a:t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393382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/>
        </p:nvSpPr>
        <p:spPr>
          <a:xfrm>
            <a:off x="685800" y="4095750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/>
        </p:nvSpPr>
        <p:spPr>
          <a:xfrm>
            <a:off x="838200" y="4229100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000125" y="4181475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真实气象数据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00125" y="4410075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链上增量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34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低于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50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4991100" y="4276725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5705475" y="4286250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685800" y="4743450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/>
        </p:nvSpPr>
        <p:spPr>
          <a:xfrm>
            <a:off x="838200" y="4876800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1000125" y="4829175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#1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模拟暴雨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1000125" y="5057775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 → 120 mm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，链上永久标记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simulated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5143500" y="4924425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94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5705475" y="4933950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685800" y="5391150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/>
        </p:nvSpPr>
        <p:spPr>
          <a:xfrm>
            <a:off x="838200" y="5524500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000125" y="5476875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历史回放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2024-06-27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至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29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000125" y="5705475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真实历史累计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230 mm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simulated = false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5143500" y="5572125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76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5705475" y="5581650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85800" y="5962650"/>
            <a:ext cx="5762625" cy="32385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上三条为 Sepolia v1 第一阶段留痕 · 演示基线是 968 上的 v2（12,378 字节）：6 张保单已按档位比例全部赔付，池子 0.0643 BOT</a:t>
            </a:r>
            <a:r>
              <a:rPr lang="zh-CN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/>
            </a:r>
            <a:r>
              <a:rPr lang="en-US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/>
            </a:r>
            <a:r>
              <a:rPr lang="zh-CN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/>
            </a:r>
            <a:r>
              <a:rPr lang="en-US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/>
            </a:r>
            <a:r>
              <a:rPr lang="zh-CN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/>
            </a:r>
            <a:endParaRPr lang="zh-CN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TWO CHAINS · ONE PROCESS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截图为</a:t>
            </a:r>
            <a:r>
              <a:rPr lang="en-US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2026-10-07 </a:t>
            </a:r>
            <a:r>
              <a:rPr lang="zh-CN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线上实读；核验台默认读 968，</a:t>
            </a: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可指定任意节点重查</a:t>
            </a: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074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  <p:bldP spid="245" grpId="0"/>
      <p:bldP spid="246" grpId="0"/>
      <p:bldP spid="247" grpId="0"/>
      <p:bldP spid="248" grpId="0"/>
      <p:bldP spid="249" grpId="0"/>
      <p:bldP spid="251" grpId="0"/>
      <p:bldP spid="250" grpId="0"/>
      <p:bldP spid="272" grpId="0"/>
      <p:bldP spid="273" grpId="0"/>
      <p:bldP spid="274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5" grpId="0"/>
      <p:bldP spid="2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143000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85800" y="4142232"/>
            <a:ext cx="3749040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五城实时雨量直读链上 —— 武汉 101、北京 109、成都 227 均未到线，上海 287、广州 303 已经越过 150 mm 的 72 小时触发线，保单只看买入后的增量。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4590288" y="4142232"/>
            <a:ext cx="3547872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判定（PAY 94）与赔付（0.0075 BOT）逐条留痕，每条右侧都能点「核验」跳回链上；背景雨幕强度也是链上雨量算出来的，不是画的。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投保面板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284464" y="4142232"/>
            <a:ext cx="3163824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 72 小时：保费 0.0008 BOT、触发线 150 mm —— 两个数都是合约函数返回的。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495604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12064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05840" y="5111496"/>
            <a:ext cx="10314432" cy="603504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三个面板读的是同一份合约。页面是纯静态 HTML：没有后端、没有数据库 —— 浏览器打开它，直接向 968 要数。</a:t>
            </a:r>
            <a:endParaRPr lang="zh-CN" sz="13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premiumOf(regionId, hours)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，触发线来自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thresholdOf(hours)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：都不是页面算的，是合约返回的。</a:t>
            </a:r>
            <a:endParaRPr lang="zh-CN" sz="13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07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  <p:bldP spid="103" grpId="0"/>
      <p:bldP spid="104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07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96,432 HOURS PER CITY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OUT OF BOUNDS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24850" y="152400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11.574%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24850" y="2133600"/>
            <a:ext cx="302895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广州越过 10% 保本线 —— 按统一价 0.001 ETH 卖 72 小时保单，赔付率 115.7%：收 1 赔 1.16。月聚类自举 95% 区间是 [9.35%, 13.88%]，下界低于保本线，所以能站住的说法是「显著高于其余四城，故单独加价」。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· 72h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84897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0.0008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0.0007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0.0004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 · RISK_LOADED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0.0020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保费由脚本按「触发概率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÷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60%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1" grpId="0"/>
      <p:bldP spid="282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298" grpId="0"/>
      <p:bldP spid="299" grpId="0"/>
      <p:bldP spid="301" grpId="0"/>
      <p:bldP spid="300" grpId="0"/>
      <p:bldP spid="3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08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381000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单均保费只有千分之几</a:t>
            </a:r>
            <a:r>
              <a:rPr lang="en-US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ETH</a:t>
            </a: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7" grpId="0"/>
      <p:bldP spid="308" grpId="0"/>
      <p:bldP spid="309" grpId="0"/>
      <p:bldP spid="310" grpId="0"/>
      <p:bldP spid="311" grpId="0"/>
      <p:bldP spid="318" grpId="0"/>
      <p:bldP spid="319" grpId="0"/>
      <p:bldP spid="321" grpId="0"/>
      <p:bldP spid="322" grpId="0"/>
      <p:bldP spid="320" grpId="0"/>
      <p:bldP spid="323" grpId="0"/>
      <p:bldP spid="325" grpId="0"/>
      <p:bldP spid="328" grpId="0"/>
      <p:bldP spid="324" grpId="0"/>
      <p:bldP spid="326" grpId="0"/>
      <p:bldP spid="327" grpId="0"/>
      <p:bldP spid="312" grpId="0"/>
      <p:bldP spid="313" grpId="0"/>
      <p:bldP spid="329" grpId="0"/>
      <p:bldP spid="331" grpId="0"/>
      <p:bldP spid="332" grpId="0"/>
      <p:bldP spid="330" grpId="0"/>
      <p:bldP spid="314" grpId="0"/>
      <p:bldP spid="315" grpId="0"/>
      <p:bldP spid="316" grpId="0"/>
      <p:bldP spid="3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09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链上降雨量是否越过合约阈值（72h 档 150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0"/>
      <p:bldP spid="337" grpId="0"/>
      <p:bldP spid="338" grpId="0"/>
      <p:bldP spid="339" grpId="0"/>
      <p:bldP spid="356" grpId="0"/>
      <p:bldP spid="359" grpId="0"/>
      <p:bldP spid="360" grpId="0"/>
      <p:bldP spid="357" grpId="0"/>
      <p:bldP spid="358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/>
      <p:bldP spid="349" grpId="0"/>
      <p:bldP spid="350" grpId="0"/>
      <p:bldP spid="351" grpId="0"/>
      <p:bldP spid="352" grpId="0"/>
      <p:bldP spid="3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4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最后，说说我们不行的地方&#10;        &lt;/Text&gt;&#10;        &lt;Box style={{ flex: 1 }} /&gt;&#10;        &lt;Text style={{ fontFamily: 'Consolas', fontSize: 16, color: 'rgba(255,255,255,0.34)', letterSpacing: 2 }}&gt;&#10;            09 / KNOWN LIMITS&#10;        &lt;/Text&gt;&#10;    &lt;/Box&gt;&#10;&#10;    &lt;Box style={{ height: 540, flexDirection: 'column', alignItems: 'center', justifyContent: 'center' }}&gt;&#10;&#10;        &lt;Text style={{ fontFamily: 'Microsoft YaHei', fontSize: 34, fontWeight: 'bold', color: '#FFFFFF', lineHeight: 1.5, textAlign: 'center' }}&gt;&#10;            六条已知边界，每一条都配了具体处置&#10;        &lt;/Text&gt;&#10;&#10;        &lt;Text style={{ fontFamily: 'Microsoft YaHei', fontSize: 23, color: 'rgba(255,255,255,0.66)', lineHeight: 1.55, marginTop: 14, textAlign: 'center' }}&gt;&#10;            —— 改哪个函数、补哪条规则，而不是一句「未来将完善」。&#10;        &lt;/Text&gt;&#10;&#10;        &lt;Box style={{ marginTop: 38, background: 'rgba(45,127,249,0.10)', border: '1px solid rgba(45,127,249,0.30)', borderRadius: 5, padding: '14px 28px' }}&gt;&#10;            &lt;Text style={{ fontFamily: 'Microsoft YaHei', fontSize: 17, color: 'rgba(255,255,255,0.82)' }}&gt;&#10;                完整六条清单在附录 · 欢迎直接翻过去点&#10;            &lt;/Text&gt;&#10;        &lt;/Box&gt;&#10;&#10;        &lt;Box style={{ marginTop: 46, borderTop: '1px solid rgba(255,255,255,0.14)', paddingTop: 28 }}&gt;&#10;            &lt;Text style={{ fontFamily: 'Microsoft YaHei', fontSize: 22, color: 'rgba(255,255,255,0.86)', lineHeight: 1.5 }}&gt;&#10;                我们宁可现在被问住，也不想在答辩现场被挖出来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10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6" name="矩形 15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914400" y="409575"/>
            <a:ext cx="41148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最后，说说我们不行的地方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10 / KNOWN LIMITS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3343275" y="2190750"/>
            <a:ext cx="5505450" cy="590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六条已知边界，每一条都配了具体处置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086100" y="2914650"/>
            <a:ext cx="6019800" cy="4095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—— 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改哪个函数、补哪条规则，而不是一句「未来将完善」。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381500" y="3686175"/>
            <a:ext cx="3429000" cy="466725"/>
          </a:xfrm>
          <a:prstGeom prst="roundRect">
            <a:avLst>
              <a:gd name="adj" fmla="val 10204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648200" y="3819525"/>
            <a:ext cx="2895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  <p:sp>
        <p:nvSpPr>
          <p:cNvPr id="23" name="任意多边形 22"/>
          <p:cNvSpPr/>
          <p:nvPr/>
        </p:nvSpPr>
        <p:spPr>
          <a:xfrm>
            <a:off x="3686175" y="4591050"/>
            <a:ext cx="4819650" cy="666750"/>
          </a:xfrm>
          <a:custGeom>
            <a:avLst/>
            <a:gdLst/>
            <a:ahLst/>
            <a:cxnLst/>
            <a:pathLst>
              <a:path w="506" h="70">
                <a:moveTo>
                  <a:pt x="0" y="0"/>
                </a:moveTo>
                <a:lnTo>
                  <a:pt x="506" y="0"/>
                </a:lnTo>
                <a:lnTo>
                  <a:pt x="506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686175" y="4867275"/>
            <a:ext cx="481965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11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" grpId="0"/>
      <p:bldP spid="19" grpId="0"/>
      <p:bldP spid="21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24450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800725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7695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9" grpId="0"/>
      <p:bldP spid="40" grpId="0"/>
      <p:bldP spid="35" grpId="0"/>
      <p:bldP spid="36" grpId="0"/>
      <p:bldP spid="37" grpId="0"/>
      <p:bldP spid="38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42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1 · 六条已知边界（完整清单）&#13;&#10;        &lt;/Text&gt;&#13;&#10;        &lt;Box style={{ flex: 1 }} /&gt;&#13;&#10;        &lt;Text style={{ fontFamily: 'Consolas', fontSize: 16, color: 'rgba(255,255,255,0.34)', letterSpacing: 2 }}&gt;&#13;&#10;            APPENDIX A1&#13;&#10;        &lt;/Text&gt;&#13;&#10;    &lt;/Box&gt;&#13;&#10;&#13;&#10;    &lt;Box style={{ height: 540, flexDirection: 'row', gap: 26 }}&gt;&#13;&#10;&#13;&#10;        &lt;Box style={{ width: 350, height: 540, flexDirection: 'column' }}&gt;&#13;&#10;            &lt;Text style={{ fontFamily: 'Consolas', fontSize: 14, color: '#22D3EE', letterSpacing: 4 }}&gt;&#13;&#10;                KNOWN LIMITS&#13;&#10;            &lt;/Text&gt;&#13;&#10;&#13;&#10;            &lt;Text style={{ fontFamily: 'Microsoft YaHei', fontSize: 26, fontWeight: 'bold', color: '#FFFFFF', lineHeight: 1.4, marginTop: 14 }}&gt;&#13;&#10;                能被追问的边界，比漂亮的口号更能撑住问答。&#13;&#10;            &lt;/Text&gt;&#13;&#10;&#13;&#10;            &lt;Box style={{ height: 1, background: 'rgba(255,255,255,0.14)', marginTop: 18, marginBottom: 16 }} /&gt;&#13;&#10;&#13;&#10;            &lt;Text style={{ fontFamily: 'Microsoft YaHei', fontSize: 16, color: 'rgba(255,255,255,0.62)', lineHeight: 1.6 }}&gt;&#13;&#10;                右边六条都是我们自己先说的。每一条后面跟上具体处置 —— 改哪个函数、补哪条规则，而不是一句「未来将完善」。&#13;&#10;            &lt;/Text&gt;&#13;&#10;&#13;&#10;            &lt;Box style={{ marginTop: 'auto', borderLeft: '3px solid #F5A524', background: 'rgba(245,165,36,0.10)', borderRadius: 4, padding: 14 }}&gt;&#13;&#10;                &lt;Text style={{ fontFamily: 'Microsoft YaHei', fontSize: 15, color: 'rgba(255,255,255,0.88)', lineHeight: 1.5 }}&gt;&#13;&#10;                    我们宁可现在被问住，也不想在答辩现场被挖出来。&#13;&#10;                &lt;/Text&gt;&#13;&#10;            &lt;/Box&gt;&#13;&#10;        &lt;/Box&gt;&#13;&#10;&#13;&#10;        &lt;Box style={{ width: 760, height: 540, flexDirection: 'column', gap: 5 }}&gt;&#13;&#10;&#13;&#10;            &lt;Box style={{ height: 84, flexDirection: 'row', alignItems: 'center', background: 'rgba(255,255,255,0.04)', borderRadius: 5, padding: '0 16px', border: '1px solid rgba(255,255,255,0.08)' }}&gt;&#13;&#10;                &lt;Text style={{ width: 28, fontFamily: 'Consolas', fontSize: 15, fontWeight: 'bold', color: '#2D7FF9' }}&gt;01&lt;/Text&gt;&#13;&#10;                &lt;Text style={{ width: 156, fontFamily: 'Microsoft YaHei', fontSize: 17, fontWeight: 'bold', color: '#FFFFFF', lineHeight: 1.35 }}&gt;身份没有任何校验&lt;/Text&gt;&#13;&#10;                &lt;Text style={{ width: 272, fontFamily: 'Microsoft YaHei', fontSize: 14, color: 'rgba(255,255,255,0.56)', lineHeight: 1.45 }}&gt;&#13;&#10;                    合约里的 rider 只是 msg.sender，没有白名单、没有签名校验&#13;&#10;                &lt;/Text&gt;&#13;&#10;                &lt;Text style={{ width: 256, fontFamily: 'Microsoft YaHei', fontSize: 15, color: '#22D3EE', lineHeight: 1.45 }}&gt;&#13;&#10;                    平台作投保人、骑手为受益人（B2B2C）+ 平台 attestation 白名单&#13;&#10;                &lt;/Text&gt;&#13;&#10;            &lt;/Box&gt;&#13;&#10;&#13;&#10;            &lt;Box style={{ height: 84, flexDirection: 'row', alignItems: 'center', background: 'rgba(255,255,255,0.04)', borderRadius: 5, padding: '0 16px', border: '1px solid rgba(255,255,255,0.08)' }}&gt;&#13;&#10;                &lt;Text style={{ width: 28, fontFamily: 'Consolas', fontSize: 15, fontWeight: 'bold', color: '#2D7FF9' }}&gt;02&lt;/Text&gt;&#13;&#10;                &lt;Text style={{ width: 156, fontFamily: 'Microsoft YaHei', fontSize: 17, fontWeight: 'bold', color: '#FFFFFF', lineHeight: 1.35 }}&gt;保费与时长无关&lt;/Text&gt;&#13;&#10;                &lt;Text style={{ width: 272, fontFamily: 'Microsoft YaHei', fontSize: 14, color: 'rgba(255,255,255,0.56)', lineHeight: 1.45 }}&gt;&#13;&#10;                    1 小时与 72 小时同价，6h 与 72h 的公平保费差 88 倍，存在期限套利&#13;&#10;                &lt;/Text&gt;&#13;&#10;                &lt;Text style={{ width: 256, fontFamily: 'Microsoft YaHei', fontSize: 15, color: '#22D3EE', lineHeight: 1.45 }}&gt;&#13;&#10;                    改 premiumOf(regionId, hours)，只卖 24/48/72 三档 + 一条最低保费地板&#13;&#10;                &lt;/Text&gt;&#13;&#10;            &lt;/Box&gt;&#13;&#10;&#13;&#10;            &lt;Box style={{ height: 84, flexDirection: 'row', alignItems: 'center', background: 'rgba(255,255,255,0.04)', borderRadius: 5, padding: '0 16px', border: '1px solid rgba(255,255,255,0.08)' }}&gt;&#13;&#10;                &lt;Text style={{ width: 28, fontFamily: 'Consolas', fontSize: 15, fontWeight: 'bold', color: '#2D7FF9' }}&gt;03&lt;/Text&gt;&#13;&#10;                &lt;Text style={{ width: 156, fontFamily: 'Microsoft YaHei', fontSize: 17, fontWeight: 'bold', color: '#FFFFFF', lineHeight: 1.35 }}&gt;预言机与判定单点&lt;/Text&gt;&#13;&#10;                &lt;Text style={{ width: 272, fontFamily: 'Microsoft YaHei', fontSize: 14, color: 'rgba(255,255,255,0.56)', lineHeight: 1.45 }}&gt;&#13;&#10;                    updateRainfall 与判定提交都只有一个 operator 私钥；链只能替你留证，不能替你验算法&#13;&#10;                &lt;/Text&gt;&#13;&#10;                &lt;Text style={{ width: 256, fontFamily: 'Microsoft YaHei', fontSize: 15, color: '#22D3EE', lineHeight: 1.45 }}&gt;&#13;&#10;                    升级路径 3-reporter 2/3 多签 → TEE / zkML；当前靠 evidenceHash 留痕可审计&#13;&#10;                &lt;/Text&gt;&#13;&#10;            &lt;/Box&gt;&#13;&#10;&#13;&#10;            &lt;Box style={{ height: 84, flexDirection: 'row', alignItems: 'center', background: 'rgba(255,255,255,0.04)', borderRadius: 5, padding: '0 16px', border: '1px solid rgba(255,255,255,0.08)' }}&gt;&#13;&#10;                &lt;Text style={{ width: 28, fontFamily: 'Consolas', fontSize: 15, fontWeight: 'bold', color: '#2D7FF9' }}&gt;04&lt;/Text&gt;&#13;&#10;                &lt;Text style={{ width: 156, fontFamily: 'Microsoft YaHei', fontSize: 17, fontWeight: 'bold', color: '#FFFFFF', lineHeight: 1.35 }}&gt;准备金无自动规则&lt;/Text&gt;&#13;&#10;                &lt;Text style={{ width: 272, fontFamily: 'Microsoft YaHei', fontSize: 14, color: 'rgba(255,255,255,0.56)', lineHeight: 1.45 }}&gt;&#13;&#10;                    reserve 与提款守卫都已实现，但 reserve 由 operator 手工设定，设为 0 则池子可被提空&#13;&#10;                &lt;/Text&gt;&#13;&#10;                &lt;Text style={{ width: 256, fontFamily: 'Microsoft YaHei', fontSize: 15, color: '#22D3EE', lineHeight: 1.45 }}&gt;&#13;&#10;                    规则直接落成公式：reserve ≥ 该区域在保保单数 × PAYOUT&#13;&#10;                &lt;/Text&gt;&#13;&#10;            &lt;/Box&gt;&#13;&#10;&#13;&#10;            &lt;Box style={{ height: 84, flexDirection: 'row', alignItems: 'center', background: 'rgba(255,255,255,0.04)', borderRadius: 5, padding: '0 16px', border: '1px solid rgba(255,255,255,0.08)' }}&gt;&#13;&#10;                &lt;Text style={{ width: 28, fontFamily: 'Consolas', fontSize: 15, fontWeight: 'bold', color: '#2D7FF9' }}&gt;05&lt;/Text&gt;&#13;&#10;                &lt;Text style={{ width: 156, fontFamily: 'Microsoft YaHei', fontSize: 17, fontWeight: 'bold', color: '#FFFFFF', lineHeight: 1.35 }}&gt;赔付条件不联动&lt;/Text&gt;&#13;&#10;                &lt;Text style={{ width: 272, fontFamily: 'Microsoft YaHei', fontSize: 14, color: 'rgba(255,255,255,0.56)', lineHeight: 1.45 }}&gt;&#13;&#10;                    判定上链后 claim() 仍以「链上雨量增量 ≥ 阈值」为第一道条件，判定不能覆盖它&#13;&#10;                &lt;/Text&gt;&#13;&#10;                &lt;Text style={{ width: 256, fontFamily: 'Microsoft YaHei', fontSize: 15, color: '#22D3EE', lineHeight: 1.45 }}&gt;&#13;&#10;                    把「已有 PAY 判定」提升为 claim 的前提条件，而不是旁证&#13;&#10;                &lt;/Text&gt;&#13;&#10;            &lt;/Box&gt;&#13;&#10;&#13;&#10;            &lt;Box style={{ height: 84, flexDirection: 'row', alignItems: 'center', background: 'rgba(245,165,36,0.08)', borderRadius: 5, padding: '0 16px', border: '1px solid rgba(245,165,36,0.28)' }}&gt;&#13;&#10;                &lt;Text style={{ width: 28, fontFamily: 'Consolas', fontSize: 15, fontWeight: 'bold', color: '#F5A524' }}&gt;06&lt;/Text&gt;&#13;&#10;                &lt;Text style={{ width: 156, fontFamily: 'Microsoft YaHei', fontSize: 17, fontWeight: 'bold', color: '#FFFFFF', lineHeight: 1.35 }}&gt;主网经济不成立&lt;/Text&gt;&#13;&#10;                &lt;Text style={{ width: 272, fontFamily: 'Microsoft YaHei', fontSize: 14, color: 'rgba(255,255,255,0.56)', lineHeight: 1.45 }}&gt;&#13;&#10;                    北京档保费 0.0004 ETH 低于投保自身的 0.00046 ETH 手续费；6h 档公平保费比手续费便宜 51 倍&#13;&#10;                &lt;/Text&gt;&#13;&#10;                &lt;Text style={{ width: 256, fontFamily: 'Microsoft YaHei', fontSize: 15, color: '#F5A524', lineHeight: 1.45 }}&gt;&#13;&#10;                    真实部署目标是低 gas EVM 链（BOT Chain）或 L2，主网只作规则与结算锚点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44" name="矩形 4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914400" y="409575"/>
            <a:ext cx="57340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A1 ·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六条已知边界（完整清单）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A1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685800" y="1143000"/>
            <a:ext cx="3333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KNOWN LIMITS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685800" y="1438275"/>
            <a:ext cx="3333750" cy="838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六条边界</a:t>
            </a:r>
            <a:b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三条已写进 v2</a:t>
            </a:r>
            <a:endParaRPr lang="zh-CN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85800" y="2447925"/>
            <a:ext cx="333375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85800" y="2609850"/>
            <a:ext cx="33337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 身份 · 02 期限 · 03 判定单点</a:t>
            </a:r>
            <a:b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 准备金 · 05 判定联动 · 06 主网经济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14375" y="5505450"/>
            <a:ext cx="3333750" cy="781050"/>
          </a:xfrm>
          <a:prstGeom prst="roundRect">
            <a:avLst>
              <a:gd name="adj" fmla="val 4878"/>
            </a:avLst>
          </a:prstGeom>
          <a:solidFill>
            <a:srgbClr val="F5A524">
              <a:alpha val="10000"/>
            </a:srgbClr>
          </a:solidFill>
        </p:spPr>
        <p:txBody>
          <a:bodyPr/>
          <a:p/>
        </p:txBody>
      </p:sp>
      <p:sp>
        <p:nvSpPr>
          <p:cNvPr id="52" name="任意多边形 51"/>
          <p:cNvSpPr/>
          <p:nvPr/>
        </p:nvSpPr>
        <p:spPr>
          <a:xfrm>
            <a:off x="714375" y="5505450"/>
            <a:ext cx="3333750" cy="781050"/>
          </a:xfrm>
          <a:custGeom>
            <a:avLst/>
            <a:gdLst/>
            <a:ahLst/>
            <a:cxnLst/>
            <a:pathLst>
              <a:path w="350" h="8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1"/>
                </a:lnTo>
                <a:cubicBezTo>
                  <a:pt x="3" y="81"/>
                  <a:pt x="3" y="82"/>
                  <a:pt x="4" y="82"/>
                </a:cubicBezTo>
                <a:cubicBezTo>
                  <a:pt x="2" y="82"/>
                  <a:pt x="0" y="80"/>
                  <a:pt x="0" y="7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/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47725" y="5638800"/>
            <a:ext cx="30384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</a:p>
        </p:txBody>
      </p:sp>
      <p:sp>
        <p:nvSpPr>
          <p:cNvPr id="54" name="圆角矩形 53"/>
          <p:cNvSpPr/>
          <p:nvPr/>
        </p:nvSpPr>
        <p:spPr>
          <a:xfrm>
            <a:off x="4267200" y="1143000"/>
            <a:ext cx="72390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419600" y="1457325"/>
            <a:ext cx="266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125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4686300" y="1409700"/>
            <a:ext cx="1485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身份没有任何校验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172200" y="1314450"/>
            <a:ext cx="2590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合约里的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rider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只是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msg.sender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，没有白名单、没有签名校验</a:t>
            </a:r>
            <a:endParaRPr lang="zh-CN" sz="105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8763000" y="1295400"/>
            <a:ext cx="24384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已写进 v2（A8）：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attestation 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白名单；B2B2C 结构待接</a:t>
            </a:r>
            <a:endParaRPr lang="zh-CN" sz="11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4267200" y="1990725"/>
            <a:ext cx="72390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419600" y="2305050"/>
            <a:ext cx="266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125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4686300" y="2257425"/>
            <a:ext cx="1485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保费与时长无关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172200" y="2162175"/>
            <a:ext cx="2590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v1 里 1 小时与 72 小时同价，存在期限套利；v2 只卖 24/48/72 三档，阈值随窗口缩放到 50/100/150 mm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8763000" y="2019300"/>
            <a:ext cx="24384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已写进 v2（A1）：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premiumGrid[regionId][hours]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地板 0.0002</a:t>
            </a:r>
            <a:endParaRPr lang="zh-CN" sz="11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4267200" y="2838450"/>
            <a:ext cx="72390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4419600" y="3152775"/>
            <a:ext cx="266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125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4686300" y="3105150"/>
            <a:ext cx="1485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预言机与判定单点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6172200" y="2886075"/>
            <a:ext cx="25908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updateRainfall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与判定提交都只有一个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operator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私钥；链只能替你留证，不能替你验算法</a:t>
            </a:r>
            <a:endParaRPr lang="zh-CN" sz="105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763000" y="2867025"/>
            <a:ext cx="24384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升级路径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3-reporter 2/3 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多签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→ TEE / zkML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；当前靠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evidenceHash 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留痕可审计</a:t>
            </a:r>
            <a:endParaRPr lang="zh-CN" sz="11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4267200" y="3686175"/>
            <a:ext cx="72390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4419600" y="4000500"/>
            <a:ext cx="266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04</a:t>
            </a:r>
            <a:endParaRPr lang="en-US" sz="1125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4686300" y="3952875"/>
            <a:ext cx="1485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准备金无自动规则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172200" y="3733800"/>
            <a:ext cx="25908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reserve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与提款守卫都已实现，但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reserve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operator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手工设定，设为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则池子可被提空</a:t>
            </a:r>
            <a:endParaRPr lang="zh-CN" sz="105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8763000" y="3838575"/>
            <a:ext cx="24384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已写进 v2（A6）：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reserveOf() = max(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reserve, openExposure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11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4267200" y="4533900"/>
            <a:ext cx="72390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4419600" y="4848225"/>
            <a:ext cx="266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en-US" sz="1125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4686300" y="4800600"/>
            <a:ext cx="1485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赔付条件不联动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172200" y="4705350"/>
            <a:ext cx="2590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判定上链后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claim()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仍以「链上雨量增量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≥ </a:t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阈值」为第一道条件，判定不能覆盖它</a:t>
            </a:r>
            <a:endParaRPr lang="zh-CN" sz="105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8763000" y="4686300"/>
            <a:ext cx="24384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把「已有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PAY 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判定」提升为</a:t>
            </a:r>
            <a:r>
              <a:rPr lang="en-US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claim </a:t>
            </a:r>
            <a:r>
              <a:rPr lang="zh-CN" sz="11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的前提条件，而不是旁证</a:t>
            </a:r>
            <a:endParaRPr lang="zh-CN" sz="11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4267200" y="5381625"/>
            <a:ext cx="7239000" cy="800100"/>
          </a:xfrm>
          <a:prstGeom prst="roundRect">
            <a:avLst>
              <a:gd name="adj" fmla="val 5952"/>
            </a:avLst>
          </a:prstGeom>
          <a:solidFill>
            <a:srgbClr val="F5A524">
              <a:alpha val="8000"/>
            </a:srgbClr>
          </a:solidFill>
          <a:ln w="12700">
            <a:solidFill>
              <a:srgbClr val="F5A524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4419600" y="5695950"/>
            <a:ext cx="266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06</a:t>
            </a:r>
            <a:endParaRPr lang="en-US" sz="1125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4686300" y="5648325"/>
            <a:ext cx="1485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L1 主网经济不成立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6172200" y="5429250"/>
            <a:ext cx="25908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北京档保费 0.0004 ETH 低于投保自身的 0.00046 ETH 手续费；真正贵的是每笔约 2.5e-4 ETH 的固定成本（L1 口径、1 Gwei），不是风险</a:t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763000" y="5410200"/>
            <a:ext cx="24384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真实部署目标是低 gas EVM 链（BOT Chain 测试网 968 已部署 v2），主网 677 待主办方 gas；L1 只作规则与结算锚点</a:t>
            </a:r>
            <a:r>
              <a:rPr lang="en-US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1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9467850" y="6391275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54" grpId="0"/>
      <p:bldP spid="55" grpId="0"/>
      <p:bldP spid="56" grpId="0"/>
      <p:bldP spid="57" grpId="0"/>
      <p:bldP spid="58" grpId="0"/>
      <p:bldP spid="48" grpId="0"/>
      <p:bldP spid="59" grpId="0"/>
      <p:bldP spid="60" grpId="0"/>
      <p:bldP spid="61" grpId="0"/>
      <p:bldP spid="62" grpId="0"/>
      <p:bldP spid="63" grpId="0"/>
      <p:bldP spid="49" grpId="0"/>
      <p:bldP spid="50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51" grpId="0"/>
      <p:bldP spid="53" grpId="0"/>
      <p:bldP spid="52" grpId="0"/>
      <p:bldP spid="79" grpId="0"/>
      <p:bldP spid="80" grpId="0"/>
      <p:bldP spid="81" grpId="0"/>
      <p:bldP spid="82" grpId="0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86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2 · v2 九项改动（完整清单）&#13;&#10;        &lt;/Text&gt;&#13;&#10;        &lt;Box style={{ flex: 1 }} /&gt;&#13;&#10;        &lt;Text style={{ fontFamily: 'Consolas', fontSize: 16, color: 'rgba(255,255,255,0.34)', letterSpacing: 2 }}&gt;&#13;&#10;            APPENDIX A2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line x1='118' y1='38' x2='118' y2='498' stroke='rgba(255,255,255,0.18)' strokeWidth='2' /&gt;&#13;&#10;&#13;&#10;                &lt;circle cx='118' cy='88' r='9' fill='#0A1422' stroke='#2D7FF9' strokeWidth='3' /&gt;&#13;&#10;                &lt;rect x='148' y='38' width='510' height='100' rx='6' fill='rgba(45,127,249,0.12)' stroke='#2D7FF9' strokeWidth='1' /&gt;&#13;&#10;                &lt;text x='168' y='64' fontFamily='Consolas' fontSize='13' fill='#22D3EE'&gt;PHASE 01&lt;/text&gt;&#13;&#10;                &lt;text x='252' y='64' fontFamily='Microsoft YaHei' fontSize='17' fontWeight='bold' fill='#FFFFFF'&gt;国标分档&lt;/text&gt;&#13;&#10;                &lt;text x='350' y='64' fontFamily='Consolas' fontSize='13' fill='#34D399'&gt;已落地 · v2&lt;/text&gt;&#13;&#10;                &lt;text x='168' y='90' fontFamily='Microsoft YaHei' fontSize='13' fill='rgba(255,255,255,0.62)'&gt;thresholdOf(h) = 50 × h / 24 把阈值绑回窗口；档线按国标三级&lt;/text&gt;&#13;&#10;                &lt;text x='168' y='109' fontFamily='Microsoft YaHei' fontSize='13' fill='rgba(255,255,255,0.62)'&gt;50 / 100 / 250 mm，赔付 50% / 75% / 100% —— 一次修掉「为什么是&lt;/text&gt;&#13;&#10;                &lt;text x='168' y='128' fontFamily='Microsoft YaHei' fontSize='13' fill='rgba(255,255,255,0.62)'&gt;50 毫米」与「为什么是 72 小时」两个追问&lt;/text&gt;&#13;&#10;&#13;&#10;                &lt;circle cx='118' cy='208' r='9' fill='#0A1422' stroke='#22D3EE' strokeWidth='3' /&gt;&#13;&#10;                &lt;rect x='148' y='158' width='510' height='100' rx='6' fill='rgba(34,211,238,0.10)' stroke='#22D3EE' strokeWidth='1' /&gt;&#13;&#10;                &lt;text x='168' y='184' fontFamily='Consolas' fontSize='13' fill='#22D3EE'&gt;PHASE 02&lt;/text&gt;&#13;&#10;                &lt;text x='252' y='184' fontFamily='Microsoft YaHei' fontSize='17' fontWeight='bold' fill='#FFFFFF'&gt;防逆选择&lt;/text&gt;&#13;&#10;                &lt;text x='350' y='184' fontFamily='Consolas' fontSize='13' fill='rgba(255,255,255,0.50)'&gt;下一步&lt;/text&gt;&#13;&#10;                &lt;text x='168' y='210' fontFamily='Microsoft YaHei' fontSize='13' fill='rgba(255,255,255,0.62)'&gt;保单保的是明确窗口内的累计降雨，且必须在窗口开始前投保 —— 雨落在&lt;/text&gt;&#13;&#10;                &lt;text x='168' y='229' fontFamily='Microsoft YaHei' fontSize='13' fill='rgba(255,255,255,0.62)'&gt;窗口之前的不进这张保单，事后投保在定义上消失；再加 t+3 冷静期、&lt;/text&gt;&#13;&#10;                &lt;text x='168' y='248' fontFamily='Microsoft YaHei' fontSize='13' fill='rgba(255,255,255,0.62)'&gt;按地址限购与保额封顶，把当日套利从 12.5 倍压回盲买水平&lt;/text&gt;&#13;&#10;&#13;&#10;                &lt;circle cx='118' cy='328' r='9' fill='#0A1422' stroke='#22D3EE' strokeWidth='3' /&gt;&#13;&#10;                &lt;rect x='148' y='278' width='510' height='100' rx='6' fill='rgba(255,255,255,0.05)' stroke='rgba(255,255,255,0.16)' strokeWidth='1' /&gt;&#13;&#10;                &lt;text x='168' y='304' fontFamily='Consolas' fontSize='13' fill='#22D3EE'&gt;PHASE 03&lt;/text&gt;&#13;&#10;                &lt;text x='252' y='304' fontFamily='Microsoft YaHei' fontSize='17' fontWeight='bold' fill='#FFFFFF'&gt;身份认定&lt;/text&gt;&#13;&#10;                &lt;text x='350' y='304' fontFamily='Consolas' fontSize='13' fill='rgba(255,255,255,0.50)'&gt;需商务落地&lt;/text&gt;&#13;&#10;                &lt;text x='168' y='330' fontFamily='Microsoft YaHei' fontSize='13' fill='rgba(255,255,255,0.62)'&gt;平台 attestation 白名单 + B2B2C（平台作投保人、骑手为受益人）。这是&lt;/text&gt;&#13;&#10;                &lt;text x='168' y='349' fontFamily='Microsoft YaHei' fontSize='13' fill='rgba(255,255,255,0.62)'&gt;唯一阻塞「能不能叫保险」的一条，也是保险利益原则的补齐路径 ——&lt;/text&gt;&#13;&#10;                &lt;text x='168' y='368' fontFamily='Microsoft YaHei' fontSize='13' fill='rgba(255,255,255,0.62)'&gt;链上能验证的只是「被平台签过字的地址」，话必须这么说&lt;/text&gt;&#13;&#10;&#13;&#10;                &lt;circle cx='118' cy='448' r='9' fill='#0A1422' stroke='#F5A524' strokeWidth='3' /&gt;&#13;&#10;                &lt;rect x='148' y='398' width='510' height='100' rx='6' fill='rgba(245,165,36,0.08)' stroke='rgba(245,165,36,0.30)' strokeWidth='1' /&gt;&#13;&#10;                &lt;text x='168' y='424' fontFamily='Consolas' fontSize='13' fill='#F5A524'&gt;PHASE 04&lt;/text&gt;&#13;&#10;                &lt;text x='252' y='424' fontFamily='Microsoft YaHei' fontSize='17' fontWeight='bold' fill='#FFFFFF'&gt;险种泛化&lt;/text&gt;&#13;&#10;                &lt;text x='350' y='424' fontFamily='Consolas' fontSize='13' fill='rgba(255,255,255,0.50)'&gt;验证后启动&lt;/text&gt;&#13;&#10;                &lt;text x='168' y='450' fontFamily='Microsoft YaHei' fontSize='13' fill='rgba(255,255,255,0.62)'&gt;合约把五个 constant 提成构造参数；同一套「数据触发 + AI 验收 + 链上&lt;/text&gt;&#13;&#10;                &lt;text x='168' y='469' fontFamily='Microsoft YaHei' fontSize='13' fill='rgba(255,255,255,0.62)'&gt;结算」骨架可迁移到高温（≥40 ℃，锚停止室外露天作业）、大风&lt;/text&gt;&#13;&#10;                &lt;text x='168' y='488' fontFamily='Microsoft YaHei' fontSize='13' fill='rgba(255,255,255,0.62)'&gt;（17.2 m/s）与空气污染 —— 数据源同为 Open-Meteo，智能层基本不改&lt;/text&gt;&#13;&#10;            &lt;/svg&gt;&#13;&#10;        &lt;/Box&gt;&#13;&#10;&#13;&#10;        &lt;Box style={{ width: 452, height: 540, flexDirection: 'column' }}&gt;&#13;&#10;            &lt;Text style={{ fontFamily: 'Consolas', fontSize: 14, color: '#22D3EE', letterSpacing: 3 }}&gt;&#13;&#10;                V2 ALREADY SHIPPED · 九项承保层改动&#13;&#10;            &lt;/Text&gt;&#13;&#10;&#13;&#10;            &lt;Box style={{ flexDirection: 'row', flexWrap: 'wrap', gap: 8, marginTop: 12 }}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1&lt;/Text&gt;&#13;&#10;                    &lt;Text style={{ fontFamily: 'Microsoft YaHei', fontSize: 13, color: 'rgba(255,255,255,0.84)', marginTop: 3 }}&gt;分档保费网格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3&lt;/Text&gt;&#13;&#10;                    &lt;Text style={{ fontFamily: 'Microsoft YaHei', fontSize: 13, color: 'rgba(255,255,255,0.84)', marginTop: 3 }}&gt;限购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4&lt;/Text&gt;&#13;&#10;                    &lt;Text style={{ fontFamily: 'Microsoft YaHei', fontSize: 13, color: 'rgba(255,255,255,0.84)', marginTop: 3 }}&gt;冷静期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4b&lt;/Text&gt;&#13;&#10;                    &lt;Text style={{ fontFamily: 'Microsoft YaHei', fontSize: 13, color: 'rgba(255,255,255,0.84)', marginTop: 3 }}&gt;喂价新鲜度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5&lt;/Text&gt;&#13;&#10;                    &lt;Text style={{ fontFamily: 'Microsoft YaHei', fontSize: 13, color: 'rgba(255,255,255,0.84)', marginTop: 3 }}&gt;sources 上链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6&lt;/Text&gt;&#13;&#10;                    &lt;Text style={{ fontFamily: 'Microsoft YaHei', fontSize: 13, color: 'rgba(255,255,255,0.84)', marginTop: 3 }}&gt;在保敞口&lt;/Text&gt;&#13;&#10;                &lt;/Box&gt;&#13;&#10;                &lt;Box style={{ width: 145, height: 62, background: 'rgba(45,127,249,0.12)', border: '1px solid rgba(45,127,249,0.42)', borderRadius: 4, padding: '8px 12px', flexDirection: 'column', justifyContent: 'center' }}&gt;&#13;&#10;                    &lt;Text style={{ fontFamily: 'Consolas', fontSize: 12, color: '#22D3EE', fontWeight: 'bold' }}&gt;A7&lt;/Text&gt;&#13;&#10;                    &lt;Text style={{ fontFamily: 'Microsoft YaHei', fontSize: 13, color: '#FFFFFF', marginTop: 3 }}&gt;国标三级分档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8&lt;/Text&gt;&#13;&#10;                    &lt;Text style={{ fontFamily: 'Microsoft YaHei', fontSize: 13, color: 'rgba(255,255,255,0.84)', marginTop: 3 }}&gt;白名单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9&lt;/Text&gt;&#13;&#10;                    &lt;Text style={{ fontFamily: 'Microsoft YaHei', fontSize: 13, color: 'rgba(255,255,255,0.84)', marginTop: 3 }}&gt;险种化&lt;/Text&gt;&#13;&#10;                &lt;/Box&gt;&#13;&#10;            &lt;/Box&gt;&#13;&#10;&#13;&#10;            &lt;Box style={{ marginTop: 16, background: 'rgba(45,127,249,0.10)', border: '1px solid rgba(45,127,249,0.30)', borderRadius: 5, padding: 14, flexDirection: 'column', gap: 7 }}&gt;&#13;&#10;                &lt;Text style={{ fontFamily: 'Microsoft YaHei', fontSize: 15, color: 'rgba(255,255,255,0.86)' }}&gt;&#13;&#10;                    已部署 &lt;span style={{ color: '#FFFFFF', fontWeight: 'bold' }}&gt;BOT Chain 测试网 968&lt;/span&gt;&#13;&#10;                &lt;/Text&gt;&#13;&#10;                &lt;Text style={{ fontFamily: 'Consolas', fontSize: 13, color: '#22D3EE' }}&gt;&#13;&#10;                    0x89e7C942535930B61cB61631051E8b0bD670596a&#13;&#10;                &lt;/Text&gt;&#13;&#10;                &lt;Text style={{ fontFamily: 'Microsoft YaHei', fontSize: 12, color: 'rgba(245,165,36,0.88)', lineHeight: 1.45 }}&gt;&#13;&#10;                    与 Sepolia 上第一阶段 v1 &lt;span style={{ fontWeight: 'bold' }}&gt;同址但不同合约&lt;/span&gt;（两链部署账户 nonce 均为 0）—— 按地址查询须带 chainId；本页只用 968&#13;&#10;                &lt;/Text&gt;&#13;&#10;                &lt;Text style={{ fontFamily: 'Microsoft YaHei', fontSize: 14, color: 'rgba(255,255,255,0.66)' }}&gt;&#13;&#10;                    e2e_v2 101 项断言全绿 · 真链彩排 25 项全过（含完整的投保 → 喂价 → 判定 → 第三方触发赔付）&#13;&#10;                &lt;/Text&gt;&#13;&#10;            &lt;/Box&gt;&#13;&#10;&#13;&#10;            &lt;Box style={{ marginTop: 'auto', borderLeft: '3px solid #F5A524', background: 'rgba(245,165,36,0.10)', borderRadius: 4, padding: 14 }}&gt;&#13;&#10;                &lt;Text style={{ fontFamily: 'Microsoft YaHei', fontSize: 15, color: '#FFFFFF', lineHeight: 1.5 }}&gt;&#13;&#10;                    改的是阈值与数据结构，&lt;span style={{ color: '#F5A524', fontWeight: 'bold' }}&gt;判定层不用重写&lt;/span&gt; —— 因为跨层的契约是哈希，不是模型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88" name="矩形 87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914400" y="409575"/>
            <a:ext cx="5553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A2 · v2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九项改动（完整清单）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A2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43000"/>
            <a:ext cx="6267450" cy="5143500"/>
          </a:xfrm>
          <a:prstGeom prst="rect">
            <a:avLst/>
          </a:prstGeom>
        </p:spPr>
      </p:pic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7200900" y="1143000"/>
            <a:ext cx="4305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V2 ALREADY SHIPPED · </a:t>
            </a:r>
            <a:r>
              <a:rPr lang="zh-CN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九项承保层改动</a:t>
            </a:r>
            <a:endParaRPr lang="zh-CN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7200900" y="14192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7315200" y="15525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A1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7315200" y="17240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分档保费网格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8658225" y="14192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772525" y="15525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A3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8772525" y="17240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限购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10115550" y="14192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229850" y="15525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A4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229850" y="17240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冷静期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7200900" y="208597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315200" y="221932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A4b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315200" y="239077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喂价新鲜度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8658225" y="208597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8772525" y="221932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A5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8772525" y="239077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sources </a:t>
            </a: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上链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10115550" y="208597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0229850" y="221932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A6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0229850" y="239077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在保敞口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7200900" y="27527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7315200" y="28860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A7</a:t>
            </a:r>
            <a:endParaRPr lang="en-US" sz="90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7315200" y="30575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按档位比例赔付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8658225" y="27527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772525" y="28860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A8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772525" y="30575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10115550" y="27527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10229850" y="28860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A9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229850" y="30575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险种化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圆角矩形 119"/>
          <p:cNvSpPr/>
          <p:nvPr/>
        </p:nvSpPr>
        <p:spPr>
          <a:xfrm>
            <a:off x="7200900" y="3495675"/>
            <a:ext cx="4305300" cy="1514475"/>
          </a:xfrm>
          <a:prstGeom prst="roundRect">
            <a:avLst>
              <a:gd name="adj" fmla="val 314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7334250" y="3629025"/>
            <a:ext cx="4038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已部署</a:t>
            </a:r>
            <a:r>
              <a:rPr lang="en-US" sz="1125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BOT Chain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测试网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968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7334250" y="3867150"/>
            <a:ext cx="403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0x89e7C942535930B61cB61631051E8b0bD670596a</a:t>
            </a:r>
            <a:endParaRPr lang="en-US" sz="9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7334250" y="4086225"/>
            <a:ext cx="40386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Sepolia </a:t>
            </a: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上第一阶段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v1 </a:t>
            </a:r>
            <a:r>
              <a:rPr lang="zh-CN" sz="1100" b="1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同址但不同合约</a:t>
            </a: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（两链部署账户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nonce </a:t>
            </a: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均为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按地址查询须带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chainId</a:t>
            </a:r>
            <a:r>
              <a:rPr lang="zh-CN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；本页数据来自</a:t>
            </a:r>
            <a:r>
              <a:rPr lang="en-US" sz="1100">
                <a:solidFill>
                  <a:srgbClr val="F5A524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BOT Chain 测试网 968</a:t>
            </a:r>
            <a:endParaRPr lang="en-US" sz="1100">
              <a:solidFill>
                <a:srgbClr val="F5A524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7334250" y="4552950"/>
            <a:ext cx="40386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九道自动化门禁 426 项断言全绿（8/29/27/19/9/73/101/73/87）· 真链彩排 25 项全过（含完整的投保 → 喂价 → 判定 → 第三方触发赔付）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圆角矩形 124"/>
          <p:cNvSpPr/>
          <p:nvPr/>
        </p:nvSpPr>
        <p:spPr>
          <a:xfrm>
            <a:off x="7229475" y="5505450"/>
            <a:ext cx="4305300" cy="781050"/>
          </a:xfrm>
          <a:prstGeom prst="roundRect">
            <a:avLst>
              <a:gd name="adj" fmla="val 4878"/>
            </a:avLst>
          </a:prstGeom>
          <a:solidFill>
            <a:srgbClr val="F5A524">
              <a:alpha val="10000"/>
            </a:srgbClr>
          </a:solidFill>
        </p:spPr>
        <p:txBody>
          <a:bodyPr/>
          <a:p/>
        </p:txBody>
      </p:sp>
      <p:sp>
        <p:nvSpPr>
          <p:cNvPr id="126" name="任意多边形 125"/>
          <p:cNvSpPr/>
          <p:nvPr/>
        </p:nvSpPr>
        <p:spPr>
          <a:xfrm>
            <a:off x="7229475" y="5505450"/>
            <a:ext cx="4305300" cy="781050"/>
          </a:xfrm>
          <a:custGeom>
            <a:avLst/>
            <a:gdLst/>
            <a:ahLst/>
            <a:cxnLst/>
            <a:pathLst>
              <a:path w="452" h="8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1"/>
                </a:lnTo>
                <a:cubicBezTo>
                  <a:pt x="3" y="81"/>
                  <a:pt x="3" y="82"/>
                  <a:pt x="4" y="82"/>
                </a:cubicBezTo>
                <a:cubicBezTo>
                  <a:pt x="2" y="82"/>
                  <a:pt x="0" y="80"/>
                  <a:pt x="0" y="7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/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362825" y="5638800"/>
            <a:ext cx="40100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改的是阈值与数据结构，</a:t>
            </a:r>
            <a:r>
              <a:rPr lang="zh-CN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判定层不用重写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因为跨层的契约是哈希，不是模型。</a:t>
            </a:r>
            <a:endParaRPr lang="zh-CN"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9467850" y="6391275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7" grpId="0"/>
      <p:bldP spid="1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914400" y="409575"/>
            <a:ext cx="504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A3 ·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五层架构与三条硬规则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A3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43000"/>
            <a:ext cx="6267450" cy="5143500"/>
          </a:xfrm>
          <a:prstGeom prst="rect">
            <a:avLst/>
          </a:prstGeom>
        </p:spPr>
      </p:pic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7200900" y="1143000"/>
            <a:ext cx="4305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HARD RULES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200900" y="1419225"/>
            <a:ext cx="43053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7200900" y="1562100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477125" y="1562100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数据来源单一化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7477125" y="1800225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 Open-Meteo 账号体系覆盖降水、气温、风速、空气质量 —— 换险种不必换数据方（数据源同一家）。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7200900" y="2409825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477125" y="2409825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哈希是唯一的跨层契约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7477125" y="2647950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锁输入、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outputHash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锁判定，两者都不含任何会变的字段。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7200900" y="3257550"/>
            <a:ext cx="1714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486650" y="3257550"/>
            <a:ext cx="3857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写链操作只有一个出口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7486650" y="3495675"/>
            <a:ext cx="3857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一张保单的判定只允许写一次，重复提交会被合约直接拒绝。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7200900" y="5495925"/>
            <a:ext cx="4305300" cy="790575"/>
          </a:xfrm>
          <a:prstGeom prst="roundRect">
            <a:avLst>
              <a:gd name="adj" fmla="val 6024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7324725" y="5619750"/>
            <a:ext cx="40576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8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这三层的接缝是</a:t>
            </a:r>
            <a:r>
              <a:rPr lang="zh-CN" sz="12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「哈希」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，不是「模型」。精算与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都可以被替换，只要它们的输入输出能落成同一个可复算的哈希。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467850" y="6391275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3992</Words>
  <Application>WPS 演示</Application>
  <PresentationFormat/>
  <Paragraphs>455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Juice</cp:lastModifiedBy>
  <cp:revision>1</cp:revision>
  <dcterms:created xsi:type="dcterms:W3CDTF">2026-10-07T10:26:49Z</dcterms:created>
  <dcterms:modified xsi:type="dcterms:W3CDTF">2026-10-07T10:26:49Z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2052-12.1.0.28505</vt:lpwstr>
  </property>
  <property fmtid="{D5CDD505-2E9C-101B-9397-08002B2CF9AE}" pid="4" name="ICV">
    <vt:lpwstr>55D065AEE67241BE9B8C10C6B4723582_12</vt:lpwstr>
  </property>
</Properties>
</file>